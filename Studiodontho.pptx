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70" r:id="rId7"/>
    <p:sldId id="271" r:id="rId8"/>
    <p:sldId id="272" r:id="rId9"/>
    <p:sldId id="262" r:id="rId10"/>
    <p:sldId id="266" r:id="rId11"/>
    <p:sldId id="268" r:id="rId12"/>
    <p:sldId id="269" r:id="rId13"/>
    <p:sldId id="273" r:id="rId14"/>
    <p:sldId id="275" r:id="rId15"/>
    <p:sldId id="276" r:id="rId16"/>
    <p:sldId id="277" r:id="rId17"/>
    <p:sldId id="278" r:id="rId18"/>
    <p:sldId id="280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AB3A6F-E73C-4CF4-8CFC-0A588EDC8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F7FC"/>
          </a:solidFill>
          <a:ln w="0">
            <a:solidFill>
              <a:srgbClr val="DFF7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0B9D2-6AAC-48C2-8B2D-3193853F73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58CC02"/>
          </a:solidFill>
          <a:ln w="0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8250" y="781050"/>
            <a:ext cx="78105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595BDF-FB82-49B5-BA31-C58EECCCF1DF}"/>
              </a:ext>
            </a:extLst>
          </p:cNvPr>
          <p:cNvSpPr>
            <a:spLocks noGrp="1"/>
          </p:cNvSpPr>
          <p:nvPr/>
        </p:nvSpPr>
        <p:spPr>
          <a:xfrm>
            <a:off x="1238250" y="190500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950" b="1">
                <a:solidFill>
                  <a:srgbClr val="073B7A"/>
                </a:solidFill>
              </a:defRPr>
            </a:pPr>
            <a:r>
              <a:rPr sz="4950" b="1">
                <a:solidFill>
                  <a:srgbClr val="073B7A"/>
                </a:solidFill>
              </a:rPr>
              <a:t>Studiodontho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89D600-9012-40ED-A985-183A37D7C923}"/>
              </a:ext>
            </a:extLst>
          </p:cNvPr>
          <p:cNvSpPr>
            <a:spLocks noGrp="1"/>
          </p:cNvSpPr>
          <p:nvPr/>
        </p:nvSpPr>
        <p:spPr>
          <a:xfrm>
            <a:off x="1295400" y="278130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09244D"/>
                </a:solidFill>
              </a:defRPr>
            </a:pPr>
            <a:r>
              <a:rPr sz="2100">
                <a:solidFill>
                  <a:srgbClr val="09244D"/>
                </a:solidFill>
              </a:rPr>
              <a:t>Application éducative mobile-first dans le domaine dentaire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859A6-E1B6-42F4-9B0C-0E7AFCF3D203}"/>
              </a:ext>
            </a:extLst>
          </p:cNvPr>
          <p:cNvSpPr>
            <a:spLocks noGrp="1"/>
          </p:cNvSpPr>
          <p:nvPr/>
        </p:nvSpPr>
        <p:spPr>
          <a:xfrm>
            <a:off x="129540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73B7A"/>
                </a:solidFill>
              </a:defRPr>
            </a:pPr>
            <a:r>
              <a:rPr sz="1650" b="1">
                <a:solidFill>
                  <a:srgbClr val="073B7A"/>
                </a:solidFill>
              </a:rPr>
              <a:t>Projet final B1 - Tevaitea Doom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D337CC5-AE65-40AD-8A53-847610816E05}"/>
              </a:ext>
            </a:extLst>
          </p:cNvPr>
          <p:cNvSpPr>
            <a:spLocks noGrp="1"/>
          </p:cNvSpPr>
          <p:nvPr/>
        </p:nvSpPr>
        <p:spPr>
          <a:xfrm>
            <a:off x="8096250" y="819150"/>
            <a:ext cx="2667000" cy="4953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628373-AB5F-4632-BA49-4CAA5438B8D3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8CC02"/>
                </a:solidFill>
              </a:defRPr>
            </a:pPr>
            <a:r>
              <a:rPr sz="2100" b="1">
                <a:solidFill>
                  <a:srgbClr val="58CC02"/>
                </a:solidFill>
              </a:rPr>
              <a:t>Découverte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2CB03D-4186-47D6-8906-28BDC724AAC7}"/>
              </a:ext>
            </a:extLst>
          </p:cNvPr>
          <p:cNvSpPr>
            <a:spLocks noGrp="1"/>
          </p:cNvSpPr>
          <p:nvPr/>
        </p:nvSpPr>
        <p:spPr>
          <a:xfrm>
            <a:off x="9286875" y="272415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0EA5A8"/>
                </a:solidFill>
              </a:defRPr>
            </a:pPr>
            <a:r>
              <a:rPr sz="3150" b="1">
                <a:solidFill>
                  <a:srgbClr val="0EA5A8"/>
                </a:solidFill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626DCE-B3BA-4AFD-B999-95C81CDF3431}"/>
              </a:ext>
            </a:extLst>
          </p:cNvPr>
          <p:cNvSpPr>
            <a:spLocks noGrp="1"/>
          </p:cNvSpPr>
          <p:nvPr/>
        </p:nvSpPr>
        <p:spPr>
          <a:xfrm>
            <a:off x="8334375" y="3790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EA5A8"/>
                </a:solidFill>
              </a:defRPr>
            </a:pPr>
            <a:r>
              <a:rPr sz="2100" b="1">
                <a:solidFill>
                  <a:srgbClr val="0EA5A8"/>
                </a:solidFill>
              </a:rPr>
              <a:t>Professionnel</a:t>
            </a:r>
          </a:p>
        </p:txBody>
      </p:sp>
    </p:spTree>
    <p:extLst>
      <p:ext uri="{BB962C8B-B14F-4D97-AF65-F5344CB8AC3E}">
        <p14:creationId xmlns:p14="http://schemas.microsoft.com/office/powerpoint/2010/main" val="161286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117108-5E19-44E2-AA4C-EB891B0C885A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91EBF6-AF37-41EC-BB5A-8162A423352B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02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F8B36-DB7D-4D92-8C16-4D2A2F7E2B64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Déroulement de la soutenance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E310E2E-6892-408C-9104-290249471596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F1C97-9E27-4161-ACF2-5CFF447FB0ED}"/>
              </a:ext>
            </a:extLst>
          </p:cNvPr>
          <p:cNvSpPr>
            <a:spLocks noGrp="1"/>
          </p:cNvSpPr>
          <p:nvPr/>
        </p:nvSpPr>
        <p:spPr>
          <a:xfrm>
            <a:off x="129540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Introduction et besoin réel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8B880-35A1-445C-AF80-97293A358B23}"/>
              </a:ext>
            </a:extLst>
          </p:cNvPr>
          <p:cNvSpPr>
            <a:spLocks noGrp="1"/>
          </p:cNvSpPr>
          <p:nvPr/>
        </p:nvSpPr>
        <p:spPr>
          <a:xfrm>
            <a:off x="129540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Objectifs et concept de l’application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CD95CD8-2532-40EB-8818-BE1FA891B303}"/>
              </a:ext>
            </a:extLst>
          </p:cNvPr>
          <p:cNvSpPr>
            <a:spLocks noGrp="1"/>
          </p:cNvSpPr>
          <p:nvPr/>
        </p:nvSpPr>
        <p:spPr>
          <a:xfrm>
            <a:off x="97155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A6A5C-BCE8-423C-9D04-B611AAF6656D}"/>
              </a:ext>
            </a:extLst>
          </p:cNvPr>
          <p:cNvSpPr>
            <a:spLocks noGrp="1"/>
          </p:cNvSpPr>
          <p:nvPr/>
        </p:nvSpPr>
        <p:spPr>
          <a:xfrm>
            <a:off x="129540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Choix techniques et architecture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4436FB6-1E12-4FA8-B1DA-E34186676AB2}"/>
              </a:ext>
            </a:extLst>
          </p:cNvPr>
          <p:cNvSpPr>
            <a:spLocks noGrp="1"/>
          </p:cNvSpPr>
          <p:nvPr/>
        </p:nvSpPr>
        <p:spPr>
          <a:xfrm>
            <a:off x="97155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CBAF3-9E48-439A-8E5E-49F27F847FCB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Méthodologie de développement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0FCAED4-6F6C-41A3-9161-591584AF60FF}"/>
              </a:ext>
            </a:extLst>
          </p:cNvPr>
          <p:cNvSpPr>
            <a:spLocks noGrp="1"/>
          </p:cNvSpPr>
          <p:nvPr/>
        </p:nvSpPr>
        <p:spPr>
          <a:xfrm>
            <a:off x="971550" y="44672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33DEF0-0375-4385-BF01-8233936B0B73}"/>
              </a:ext>
            </a:extLst>
          </p:cNvPr>
          <p:cNvSpPr>
            <a:spLocks noGrp="1"/>
          </p:cNvSpPr>
          <p:nvPr/>
        </p:nvSpPr>
        <p:spPr>
          <a:xfrm>
            <a:off x="1295400" y="44005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Résultats, démonstration et difficultés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DC304B9-1D85-41F8-93F3-332C84B72113}"/>
              </a:ext>
            </a:extLst>
          </p:cNvPr>
          <p:cNvSpPr>
            <a:spLocks noGrp="1"/>
          </p:cNvSpPr>
          <p:nvPr/>
        </p:nvSpPr>
        <p:spPr>
          <a:xfrm>
            <a:off x="971550" y="50196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29772-0EAB-49FA-A37F-FE4E0C4A3427}"/>
              </a:ext>
            </a:extLst>
          </p:cNvPr>
          <p:cNvSpPr>
            <a:spLocks noGrp="1"/>
          </p:cNvSpPr>
          <p:nvPr/>
        </p:nvSpPr>
        <p:spPr>
          <a:xfrm>
            <a:off x="1295400" y="49530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Améliorations futures et 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D1437-AC63-400B-AB36-33053C869040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88B1A41-90D2-5CC9-B552-02E7E65D9631}"/>
              </a:ext>
            </a:extLst>
          </p:cNvPr>
          <p:cNvSpPr>
            <a:spLocks noGrp="1"/>
          </p:cNvSpPr>
          <p:nvPr/>
        </p:nvSpPr>
        <p:spPr>
          <a:xfrm>
            <a:off x="971550" y="2871787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22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10AE54-4C91-4ACB-ADA3-26488ACAFE8E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A68B05-BB5F-4EA0-A248-069AAFF112C0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03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77D6B-A87B-4083-8829-76AF9FBF5513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3B7A"/>
                </a:solidFill>
              </a:defRPr>
            </a:pPr>
            <a:r>
              <a:rPr sz="3150" b="1">
                <a:solidFill>
                  <a:srgbClr val="073B7A"/>
                </a:solidFill>
              </a:rPr>
              <a:t>Studiodontho vous accompagne dans l’apprentissage dentaire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916BA7-C06D-4325-B7DB-FFCC564DFE8C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8953500" cy="223837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30AC3-27DC-41E8-A910-D14D1AB383A2}"/>
              </a:ext>
            </a:extLst>
          </p:cNvPr>
          <p:cNvSpPr>
            <a:spLocks noGrp="1"/>
          </p:cNvSpPr>
          <p:nvPr/>
        </p:nvSpPr>
        <p:spPr>
          <a:xfrm>
            <a:off x="1619250" y="2571750"/>
            <a:ext cx="7905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9244D"/>
                </a:solidFill>
              </a:defRPr>
            </a:pPr>
            <a:r>
              <a:rPr lang="fr-FR" sz="2400" b="1">
                <a:solidFill>
                  <a:srgbClr val="09244D"/>
                </a:solidFill>
              </a:rPr>
              <a:t>Apprendre, s’entraîner et progresser grâce à des exercices, des cours et un classement motivant.</a:t>
            </a:r>
            <a:endParaRPr sz="2400" b="1" dirty="0">
              <a:solidFill>
                <a:srgbClr val="09244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24DB9-72F2-4034-B389-2D190B1934A0}"/>
              </a:ext>
            </a:extLst>
          </p:cNvPr>
          <p:cNvSpPr>
            <a:spLocks noGrp="1"/>
          </p:cNvSpPr>
          <p:nvPr/>
        </p:nvSpPr>
        <p:spPr>
          <a:xfrm>
            <a:off x="1619250" y="39243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607086"/>
                </a:solidFill>
              </a:defRPr>
            </a:pPr>
            <a:r>
              <a:rPr sz="1500" dirty="0">
                <a:solidFill>
                  <a:srgbClr val="607086"/>
                </a:solidFill>
              </a:rPr>
              <a:t>Une application </a:t>
            </a:r>
            <a:r>
              <a:rPr sz="1500" dirty="0" err="1">
                <a:solidFill>
                  <a:srgbClr val="607086"/>
                </a:solidFill>
              </a:rPr>
              <a:t>éducative</a:t>
            </a:r>
            <a:r>
              <a:rPr sz="1500" dirty="0">
                <a:solidFill>
                  <a:srgbClr val="607086"/>
                </a:solidFill>
              </a:rPr>
              <a:t> pensée </a:t>
            </a:r>
            <a:r>
              <a:rPr sz="1500" dirty="0" err="1">
                <a:solidFill>
                  <a:srgbClr val="607086"/>
                </a:solidFill>
              </a:rPr>
              <a:t>comme</a:t>
            </a:r>
            <a:r>
              <a:rPr sz="1500" dirty="0">
                <a:solidFill>
                  <a:srgbClr val="607086"/>
                </a:solidFill>
              </a:rPr>
              <a:t> un </a:t>
            </a:r>
            <a:r>
              <a:rPr sz="1500" dirty="0" err="1">
                <a:solidFill>
                  <a:srgbClr val="607086"/>
                </a:solidFill>
              </a:rPr>
              <a:t>parcours</a:t>
            </a:r>
            <a:r>
              <a:rPr sz="150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0F27E-F06F-4ED3-83F1-3B4383C1487D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33375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A2EADB-61C1-4BBA-B97B-7BE55845445F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A7348-CF91-485C-B4D6-9314ABAF31D8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04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47E654-69EA-4794-82F7-E82F738AD544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lang="fr-FR" sz="3450" b="1" dirty="0">
                <a:solidFill>
                  <a:srgbClr val="073B7A"/>
                </a:solidFill>
              </a:rPr>
              <a:t>Pourquoi j’ai choisi ce domaine ?</a:t>
            </a:r>
            <a:endParaRPr sz="3450" b="1" dirty="0">
              <a:solidFill>
                <a:srgbClr val="073B7A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2E1D17C-3961-4886-8E34-42F0A1E4FD46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8288E-B64B-4A19-AEDF-E9274FF34259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 dirty="0">
                <a:solidFill>
                  <a:srgbClr val="09244D"/>
                </a:solidFill>
              </a:rPr>
              <a:t>Un réel besoin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89F861B-7A31-4998-A467-AC80EF886EFD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E57521-F406-4B53-A125-20B0284176F0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 dirty="0">
                <a:solidFill>
                  <a:srgbClr val="09244D"/>
                </a:solidFill>
              </a:rPr>
              <a:t>Les </a:t>
            </a:r>
            <a:r>
              <a:rPr sz="1950" dirty="0" err="1">
                <a:solidFill>
                  <a:srgbClr val="09244D"/>
                </a:solidFill>
              </a:rPr>
              <a:t>utilisateurs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n’ont</a:t>
            </a:r>
            <a:r>
              <a:rPr sz="1950" dirty="0">
                <a:solidFill>
                  <a:srgbClr val="09244D"/>
                </a:solidFill>
              </a:rPr>
              <a:t> pas </a:t>
            </a:r>
            <a:r>
              <a:rPr sz="1950" dirty="0" err="1">
                <a:solidFill>
                  <a:srgbClr val="09244D"/>
                </a:solidFill>
              </a:rPr>
              <a:t>toujours</a:t>
            </a:r>
            <a:r>
              <a:rPr sz="1950" dirty="0">
                <a:solidFill>
                  <a:srgbClr val="09244D"/>
                </a:solidFill>
              </a:rPr>
              <a:t> le </a:t>
            </a:r>
            <a:r>
              <a:rPr sz="1950" dirty="0" err="1">
                <a:solidFill>
                  <a:srgbClr val="09244D"/>
                </a:solidFill>
              </a:rPr>
              <a:t>même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niveau</a:t>
            </a:r>
            <a:r>
              <a:rPr sz="1950" dirty="0">
                <a:solidFill>
                  <a:srgbClr val="09244D"/>
                </a:solidFill>
              </a:rPr>
              <a:t> de </a:t>
            </a:r>
            <a:r>
              <a:rPr sz="1950" dirty="0" err="1">
                <a:solidFill>
                  <a:srgbClr val="09244D"/>
                </a:solidFill>
              </a:rPr>
              <a:t>départ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7FC92D2-76A6-46CA-98C8-AA8AED639000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E3A73-F9AC-4D47-8FB0-ACDE042F8818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>
                <a:solidFill>
                  <a:srgbClr val="09244D"/>
                </a:solidFill>
              </a:rPr>
              <a:t>On peut se demander ce que le dentiste peut nous faire.</a:t>
            </a:r>
            <a:endParaRPr sz="1950" dirty="0">
              <a:solidFill>
                <a:srgbClr val="09244D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945F890-A869-4862-B019-91D656800F9A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D5333-03CA-40AF-A8D6-5A2A412884CB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 dirty="0">
                <a:solidFill>
                  <a:srgbClr val="09244D"/>
                </a:solidFill>
              </a:rPr>
              <a:t>La progression et les tests </a:t>
            </a:r>
            <a:r>
              <a:rPr sz="1950" dirty="0" err="1">
                <a:solidFill>
                  <a:srgbClr val="09244D"/>
                </a:solidFill>
              </a:rPr>
              <a:t>rendent</a:t>
            </a:r>
            <a:r>
              <a:rPr sz="1950" dirty="0">
                <a:solidFill>
                  <a:srgbClr val="09244D"/>
                </a:solidFill>
              </a:rPr>
              <a:t> </a:t>
            </a:r>
            <a:r>
              <a:rPr sz="1950" dirty="0" err="1">
                <a:solidFill>
                  <a:srgbClr val="09244D"/>
                </a:solidFill>
              </a:rPr>
              <a:t>l’apprentissage</a:t>
            </a:r>
            <a:r>
              <a:rPr sz="1950" dirty="0">
                <a:solidFill>
                  <a:srgbClr val="09244D"/>
                </a:solidFill>
              </a:rPr>
              <a:t> plus </a:t>
            </a:r>
            <a:r>
              <a:rPr sz="1950" dirty="0" err="1">
                <a:solidFill>
                  <a:srgbClr val="09244D"/>
                </a:solidFill>
              </a:rPr>
              <a:t>motivant</a:t>
            </a:r>
            <a:r>
              <a:rPr sz="1950" dirty="0">
                <a:solidFill>
                  <a:srgbClr val="09244D"/>
                </a:solidFill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CA560-480B-41ED-A1C4-AF8D0AC665C6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1220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FC7E909-4768-4FE3-9059-07351AE66739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OBJECTIFS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EEAA3-DFB2-4BE1-A4DB-59C2FA45F2BC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05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54D38-ECF4-4CEF-A9A9-8607B440A349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Avec Studiodontho, l’utilisateur peut...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3B8247-4CDC-4482-B656-3EB62D115AB6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1420F03-9F3F-2775-FC18-2E292519D332}"/>
              </a:ext>
            </a:extLst>
          </p:cNvPr>
          <p:cNvSpPr txBox="1"/>
          <p:nvPr/>
        </p:nvSpPr>
        <p:spPr>
          <a:xfrm>
            <a:off x="9144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Apprendre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CE465A-7078-F7E3-6A62-977E86942BC4}"/>
              </a:ext>
            </a:extLst>
          </p:cNvPr>
          <p:cNvSpPr txBox="1"/>
          <p:nvPr/>
        </p:nvSpPr>
        <p:spPr>
          <a:xfrm>
            <a:off x="9144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dirty="0">
                <a:solidFill>
                  <a:srgbClr val="607086"/>
                </a:solidFill>
                <a:latin typeface="Calibri" panose="020F0502020204030204" pitchFamily="34" charset="0"/>
              </a:rPr>
              <a:t>Consulter des fiches résumées et des contenus adaptés au niveau.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BCC832-3AEF-6268-F229-91FEC71F577B}"/>
              </a:ext>
            </a:extLst>
          </p:cNvPr>
          <p:cNvSpPr txBox="1"/>
          <p:nvPr/>
        </p:nvSpPr>
        <p:spPr>
          <a:xfrm>
            <a:off x="44958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S’entraîner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51E763-1F33-C571-CC1D-14D271DF441F}"/>
              </a:ext>
            </a:extLst>
          </p:cNvPr>
          <p:cNvSpPr txBox="1"/>
          <p:nvPr/>
        </p:nvSpPr>
        <p:spPr>
          <a:xfrm>
            <a:off x="44958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>
                <a:solidFill>
                  <a:srgbClr val="607086"/>
                </a:solidFill>
                <a:latin typeface="Calibri" panose="020F0502020204030204" pitchFamily="34" charset="0"/>
              </a:rPr>
              <a:t>Faire des quiz, tests, exercices et cas pratiques.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0C5516-DD16-4DC9-3BF6-94AEA49493F9}"/>
              </a:ext>
            </a:extLst>
          </p:cNvPr>
          <p:cNvSpPr txBox="1"/>
          <p:nvPr/>
        </p:nvSpPr>
        <p:spPr>
          <a:xfrm>
            <a:off x="8077200" y="1750212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073B7A"/>
                </a:solidFill>
                <a:latin typeface="Calibri" panose="020F0502020204030204" pitchFamily="34" charset="0"/>
              </a:rPr>
              <a:t>• Progresser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618601-4F45-6A5D-2428-ED7EFC228DC0}"/>
              </a:ext>
            </a:extLst>
          </p:cNvPr>
          <p:cNvSpPr txBox="1"/>
          <p:nvPr/>
        </p:nvSpPr>
        <p:spPr>
          <a:xfrm>
            <a:off x="8077200" y="2321712"/>
            <a:ext cx="3111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>
                <a:solidFill>
                  <a:srgbClr val="607086"/>
                </a:solidFill>
                <a:latin typeface="Calibri" panose="020F0502020204030204" pitchFamily="34" charset="0"/>
              </a:rPr>
              <a:t>Valider des chemins, gagner des points et suivre son classement.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F7C0C9-AA88-7F93-C431-A998BF9EA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176" y="3068182"/>
            <a:ext cx="1601947" cy="312109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1EAAA53-B589-972F-C9BF-36508C3C7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76" y="3068182"/>
            <a:ext cx="1601948" cy="313595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DE70C2-D6D0-1A8D-F652-80D763025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673" y="3077878"/>
            <a:ext cx="1630554" cy="31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0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2D7796-9757-4848-92E1-5A1710178A61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MÉTHODOLOGIE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B474-D5D2-49B3-8AC4-E86E052D5C1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06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5BCA7-E4D2-40D4-9F58-092648EE3015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Conception de l’interface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699937-1A7A-4FA8-B84E-DD203FB68168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L’interface devait ressembler à une application mobile, pas à un site vitrine.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8037475-69F0-4A8C-849F-00F0CB1F2870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5F136-7F68-4FA5-801C-9EDD2D4BECFF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Format téléphone, footer fixe et navigation simple.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D3BC827-4D4D-424D-9611-A255ADB5030C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9054D0-66AD-414C-9986-15614E2766D5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lang="fr-FR" sz="1950">
                <a:solidFill>
                  <a:srgbClr val="09244D"/>
                </a:solidFill>
              </a:rPr>
              <a:t>Couleurs rassurantes liées au domaine : bleu médical, turquoise, vert doux et blanc.</a:t>
            </a:r>
            <a:endParaRPr sz="1950" dirty="0">
              <a:solidFill>
                <a:srgbClr val="09244D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5AFD8A8-9381-49DB-94EE-28141FA94989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49E4DF-CCBB-4A68-983D-FCA6492CE4E1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Transitions fluides entre les pages pour garder une sensation d’application.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20607F6-A05D-4B76-A810-6C8BBB5F91D8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F0A395-2242-4EEC-A87D-3CF732F18B8B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Écrans adaptés au profil, au mode et à la progression de l’utilisateur.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04E7B2-2280-47BD-9083-BE2B2B82C95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71949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0404FFE-D0D5-4AC8-98C3-750417CC4A77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644A6-1CC6-4DAB-B7A5-6C2582124783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07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B7187-BDA9-4A8B-B09F-F666CA31620D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lang="fr-FR" sz="3450" b="1" dirty="0">
                <a:solidFill>
                  <a:srgbClr val="073B7A"/>
                </a:solidFill>
              </a:rPr>
              <a:t>Le Login</a:t>
            </a:r>
            <a:endParaRPr sz="3450" b="1" dirty="0">
              <a:solidFill>
                <a:srgbClr val="073B7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C563F-83C5-4065-9A09-A2818254D1F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La gestion des comptes est fonctionnelle.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EED11-0311-41D5-B1C8-FABE4FF934E1}"/>
              </a:ext>
            </a:extLst>
          </p:cNvPr>
          <p:cNvSpPr>
            <a:spLocks noGrp="1"/>
          </p:cNvSpPr>
          <p:nvPr/>
        </p:nvSpPr>
        <p:spPr>
          <a:xfrm>
            <a:off x="10858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CA1400-FF18-4893-B751-34842405141C}"/>
              </a:ext>
            </a:extLst>
          </p:cNvPr>
          <p:cNvSpPr>
            <a:spLocks noGrp="1"/>
          </p:cNvSpPr>
          <p:nvPr/>
        </p:nvSpPr>
        <p:spPr>
          <a:xfrm>
            <a:off x="10858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Inscription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D992FE-D68E-47F1-B88D-F1BF6CC5A750}"/>
              </a:ext>
            </a:extLst>
          </p:cNvPr>
          <p:cNvSpPr>
            <a:spLocks noGrp="1"/>
          </p:cNvSpPr>
          <p:nvPr/>
        </p:nvSpPr>
        <p:spPr>
          <a:xfrm>
            <a:off x="10858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Création de compte avec email, prénom et mot de passe sécurisé.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E4AC2-D988-4F03-A1A9-E3D9B2AFDD6D}"/>
              </a:ext>
            </a:extLst>
          </p:cNvPr>
          <p:cNvSpPr>
            <a:spLocks noGrp="1"/>
          </p:cNvSpPr>
          <p:nvPr/>
        </p:nvSpPr>
        <p:spPr>
          <a:xfrm>
            <a:off x="46672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F4383E-5FE1-470C-97C1-46307A79B57F}"/>
              </a:ext>
            </a:extLst>
          </p:cNvPr>
          <p:cNvSpPr>
            <a:spLocks noGrp="1"/>
          </p:cNvSpPr>
          <p:nvPr/>
        </p:nvSpPr>
        <p:spPr>
          <a:xfrm>
            <a:off x="46672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Connexion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C37BF1-BA9E-4D5A-8EB5-9B4BFF076CCF}"/>
              </a:ext>
            </a:extLst>
          </p:cNvPr>
          <p:cNvSpPr>
            <a:spLocks noGrp="1"/>
          </p:cNvSpPr>
          <p:nvPr/>
        </p:nvSpPr>
        <p:spPr>
          <a:xfrm>
            <a:off x="46672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Vérification du mot de passe hashé et création de session.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44A3C-1A3B-4302-BDD5-FE627F42F4B9}"/>
              </a:ext>
            </a:extLst>
          </p:cNvPr>
          <p:cNvSpPr>
            <a:spLocks noGrp="1"/>
          </p:cNvSpPr>
          <p:nvPr/>
        </p:nvSpPr>
        <p:spPr>
          <a:xfrm>
            <a:off x="8248650" y="141021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9C2B9-6CCD-4EF5-9BCD-366F161620E5}"/>
              </a:ext>
            </a:extLst>
          </p:cNvPr>
          <p:cNvSpPr>
            <a:spLocks noGrp="1"/>
          </p:cNvSpPr>
          <p:nvPr/>
        </p:nvSpPr>
        <p:spPr>
          <a:xfrm>
            <a:off x="8248650" y="1962662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Compte invité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626A9-15A4-4242-A35B-1BE0C037F791}"/>
              </a:ext>
            </a:extLst>
          </p:cNvPr>
          <p:cNvSpPr>
            <a:spLocks noGrp="1"/>
          </p:cNvSpPr>
          <p:nvPr/>
        </p:nvSpPr>
        <p:spPr>
          <a:xfrm>
            <a:off x="8248650" y="2515112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Accès rapide sans email, avec avertissement à la déconnexion.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A75B96-9D87-415D-9779-A5C001CDA5BA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CA2DD93-C58A-DB11-045A-B69CC905D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48" y="3106820"/>
            <a:ext cx="1684143" cy="327493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1EE068B-2D6A-F9B3-24DC-534F0B50F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3106820"/>
            <a:ext cx="1686066" cy="327493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AABB212-F23C-12C5-B4CA-79D402C68A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33" y="3106820"/>
            <a:ext cx="1734265" cy="32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8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E6B259-750C-4200-BF13-CECB52A964E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5A784C-F5D2-4474-920F-A477E5B0386B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08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80DB5-F2DC-4BD7-B458-F291CDCBC405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Modes et profil utilisateur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58B98-3BF6-49AF-BAD1-D815F894A31B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Un même compte peut avoir deux espaces séparés.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62C5A9-2E0C-4D35-A167-54FAE89C910F}"/>
              </a:ext>
            </a:extLst>
          </p:cNvPr>
          <p:cNvSpPr>
            <a:spLocks noGrp="1"/>
          </p:cNvSpPr>
          <p:nvPr/>
        </p:nvSpPr>
        <p:spPr>
          <a:xfrm>
            <a:off x="515116" y="2563952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560854-9721-4ABE-9654-280B9343EEA4}"/>
              </a:ext>
            </a:extLst>
          </p:cNvPr>
          <p:cNvSpPr>
            <a:spLocks noGrp="1"/>
          </p:cNvSpPr>
          <p:nvPr/>
        </p:nvSpPr>
        <p:spPr>
          <a:xfrm>
            <a:off x="367828" y="2901607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Mode découverte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9F9BA-C6E5-4B93-91DC-654B39586DF2}"/>
              </a:ext>
            </a:extLst>
          </p:cNvPr>
          <p:cNvSpPr>
            <a:spLocks noGrp="1"/>
          </p:cNvSpPr>
          <p:nvPr/>
        </p:nvSpPr>
        <p:spPr>
          <a:xfrm>
            <a:off x="367828" y="3454057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Contenus simplifiés pour apprendre sans connaissances préalables.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E52F3-6F86-49DF-935F-EE419BFC1779}"/>
              </a:ext>
            </a:extLst>
          </p:cNvPr>
          <p:cNvSpPr>
            <a:spLocks noGrp="1"/>
          </p:cNvSpPr>
          <p:nvPr/>
        </p:nvSpPr>
        <p:spPr>
          <a:xfrm>
            <a:off x="5176618" y="429456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723F6-4DF7-4976-9698-9B11687486BA}"/>
              </a:ext>
            </a:extLst>
          </p:cNvPr>
          <p:cNvSpPr>
            <a:spLocks noGrp="1"/>
          </p:cNvSpPr>
          <p:nvPr/>
        </p:nvSpPr>
        <p:spPr>
          <a:xfrm>
            <a:off x="5201166" y="4141265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 dirty="0">
                <a:solidFill>
                  <a:srgbClr val="073B7A"/>
                </a:solidFill>
              </a:rPr>
              <a:t>Mode </a:t>
            </a:r>
            <a:r>
              <a:rPr sz="1800" b="1" dirty="0" err="1">
                <a:solidFill>
                  <a:srgbClr val="073B7A"/>
                </a:solidFill>
              </a:rPr>
              <a:t>professionnel</a:t>
            </a:r>
            <a:endParaRPr sz="1800" b="1" dirty="0">
              <a:solidFill>
                <a:srgbClr val="073B7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BED3E3-9350-4217-ABAF-1C8EDF95435D}"/>
              </a:ext>
            </a:extLst>
          </p:cNvPr>
          <p:cNvSpPr>
            <a:spLocks noGrp="1"/>
          </p:cNvSpPr>
          <p:nvPr/>
        </p:nvSpPr>
        <p:spPr>
          <a:xfrm>
            <a:off x="5201166" y="4693715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Contenus plus techniques pour étudiants ou connaisseurs.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AE3F18-58CB-497B-9E1B-FE9F70B75BF2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8154DA-197B-4AE8-8F53-E8B09750AC69}"/>
              </a:ext>
            </a:extLst>
          </p:cNvPr>
          <p:cNvSpPr>
            <a:spLocks noGrp="1"/>
          </p:cNvSpPr>
          <p:nvPr/>
        </p:nvSpPr>
        <p:spPr>
          <a:xfrm>
            <a:off x="8248650" y="1784696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Profil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9CD8C0-4BCC-4054-B3C6-83E60CC01D40}"/>
              </a:ext>
            </a:extLst>
          </p:cNvPr>
          <p:cNvSpPr>
            <a:spLocks noGrp="1"/>
          </p:cNvSpPr>
          <p:nvPr/>
        </p:nvSpPr>
        <p:spPr>
          <a:xfrm>
            <a:off x="8248650" y="2337146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Prénom, photo, statistiques, mode actif et actions rapides.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4BB69D-4E92-47AF-9F77-CFE594728269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F867B876-CBC0-E239-33BE-52402759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413" y="2231860"/>
            <a:ext cx="1996825" cy="384509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84F663D-57D6-FF0D-CE60-950D0FDC3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28" y="3061046"/>
            <a:ext cx="1725844" cy="330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621EE16-B3F0-4F72-890B-E2F68392E2DE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5467F-2911-4AEF-B80A-05E9B0CE539C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09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791EFC-F50F-4986-98D3-A7555837B4D3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Choix techniques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19B5CD-7545-4193-A6E1-7EA1B8708E4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lang="fr-FR" sz="1650" dirty="0">
                <a:solidFill>
                  <a:srgbClr val="607086"/>
                </a:solidFill>
              </a:rPr>
              <a:t>On va en voir un peu plus juste après </a:t>
            </a:r>
            <a:endParaRPr sz="1650" dirty="0">
              <a:solidFill>
                <a:srgbClr val="607086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6F5680A-D854-4FB1-B602-DDBB10E5EAEC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0B06E-DA51-4F59-ACE1-952F53BED49F}"/>
              </a:ext>
            </a:extLst>
          </p:cNvPr>
          <p:cNvSpPr>
            <a:spLocks noGrp="1"/>
          </p:cNvSpPr>
          <p:nvPr/>
        </p:nvSpPr>
        <p:spPr>
          <a:xfrm>
            <a:off x="10858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7F23E-36B0-4271-B396-4497F628155D}"/>
              </a:ext>
            </a:extLst>
          </p:cNvPr>
          <p:cNvSpPr>
            <a:spLocks noGrp="1"/>
          </p:cNvSpPr>
          <p:nvPr/>
        </p:nvSpPr>
        <p:spPr>
          <a:xfrm>
            <a:off x="10858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HTML, CSS et JavaScript pour construire une interface mobile interactive.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11E74CA-1F33-4604-9C5C-8A0A5C880D97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72113-8112-4E01-AC8D-5F5F99D43A54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6E783-8A21-4A8F-9920-FEF864EA7F40}"/>
              </a:ext>
            </a:extLst>
          </p:cNvPr>
          <p:cNvSpPr>
            <a:spLocks noGrp="1"/>
          </p:cNvSpPr>
          <p:nvPr/>
        </p:nvSpPr>
        <p:spPr>
          <a:xfrm>
            <a:off x="46672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Node.js et Express pour gérer les API, les comptes et la progression.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13B99FD-7B4D-4209-AFFC-36EC45588643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238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9EB83-C0E0-45B1-8661-1D62C51CF6C5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87823-8BF1-4C2A-BF11-BD0BD4273692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93AB8-4374-47F4-90E7-A5910F6A3913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2743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MySQL avec Docker et phpMyAdmin pour stocker et contrôler les données.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EB2514-8CD7-4623-83F3-DF18B2779AB4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64198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BE6AE2-35B4-4DD0-A23F-FF7B06936506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B09FFA-A8AF-4154-87C1-60012914DD1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10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6F492B-A564-4F09-982F-A0CC2CE5632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Sécurité et outils complémentaires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DAA24-9AFC-4F11-AFDB-4FF2A142FB09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Les choix techniques protègent les comptes et accélèrent le développement.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BFB715E-BA1D-4158-9D45-5064383EE753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2CAAEB6-02EE-439B-8744-DD65ABB435F6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42E8B-E76F-46E5-BD39-1BDA18C0F9C9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8CC02"/>
                </a:solidFill>
              </a:defRPr>
            </a:pPr>
            <a:r>
              <a:rPr sz="1950" b="1">
                <a:solidFill>
                  <a:srgbClr val="58CC02"/>
                </a:solidFill>
              </a:rPr>
              <a:t>Sécurité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9063E-B0B1-4B31-AA91-85D58A285760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</a:defRPr>
            </a:pPr>
            <a:r>
              <a:rPr sz="1950" b="1">
                <a:solidFill>
                  <a:srgbClr val="0EA5A8"/>
                </a:solidFill>
              </a:rPr>
              <a:t>Outils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42D0A-5780-4596-B6DD-10B4B155D65C}"/>
              </a:ext>
            </a:extLst>
          </p:cNvPr>
          <p:cNvSpPr>
            <a:spLocks noGrp="1"/>
          </p:cNvSpPr>
          <p:nvPr/>
        </p:nvSpPr>
        <p:spPr>
          <a:xfrm>
            <a:off x="13906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bcrypt pour hasher les mots de passe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C5FE062-8CA9-4037-8494-AE4EA2573511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A3DDC0-782E-4736-A872-5CB9B74AB4D3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 dirty="0">
                <a:solidFill>
                  <a:srgbClr val="09244D"/>
                </a:solidFill>
              </a:rPr>
              <a:t>sessions </a:t>
            </a:r>
            <a:r>
              <a:rPr sz="1500" dirty="0" err="1">
                <a:solidFill>
                  <a:srgbClr val="09244D"/>
                </a:solidFill>
              </a:rPr>
              <a:t>stockées</a:t>
            </a:r>
            <a:r>
              <a:rPr sz="1500" dirty="0">
                <a:solidFill>
                  <a:srgbClr val="09244D"/>
                </a:solidFill>
              </a:rPr>
              <a:t> </a:t>
            </a:r>
            <a:r>
              <a:rPr sz="1500" dirty="0" err="1">
                <a:solidFill>
                  <a:srgbClr val="09244D"/>
                </a:solidFill>
              </a:rPr>
              <a:t>en</a:t>
            </a:r>
            <a:r>
              <a:rPr sz="1500" dirty="0">
                <a:solidFill>
                  <a:srgbClr val="09244D"/>
                </a:solidFill>
              </a:rPr>
              <a:t> base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DE94204-CFD3-4513-BA02-F13CF7883573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D8C16-1AA7-4812-A884-712CB9DC36B5}"/>
              </a:ext>
            </a:extLst>
          </p:cNvPr>
          <p:cNvSpPr>
            <a:spLocks noGrp="1"/>
          </p:cNvSpPr>
          <p:nvPr/>
        </p:nvSpPr>
        <p:spPr>
          <a:xfrm>
            <a:off x="13906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lang="fr-FR" sz="1500">
                <a:solidFill>
                  <a:srgbClr val="09244D"/>
                </a:solidFill>
              </a:rPr>
              <a:t>Les points ne sont pas stockés en base de données, ils sont calculés directement.</a:t>
            </a:r>
            <a:endParaRPr sz="1500" dirty="0">
              <a:solidFill>
                <a:srgbClr val="09244D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3DE8F8C-DFA0-47FF-93FF-6FC8F4B68E0A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96EE4-2177-4B08-B252-9D5157B99421}"/>
              </a:ext>
            </a:extLst>
          </p:cNvPr>
          <p:cNvSpPr>
            <a:spLocks noGrp="1"/>
          </p:cNvSpPr>
          <p:nvPr/>
        </p:nvSpPr>
        <p:spPr>
          <a:xfrm>
            <a:off x="13906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 dirty="0">
                <a:solidFill>
                  <a:srgbClr val="09244D"/>
                </a:solidFill>
              </a:rPr>
              <a:t>rate limit sur les routes </a:t>
            </a:r>
            <a:r>
              <a:rPr sz="1500" dirty="0" err="1">
                <a:solidFill>
                  <a:srgbClr val="09244D"/>
                </a:solidFill>
              </a:rPr>
              <a:t>sensibles</a:t>
            </a:r>
            <a:endParaRPr sz="1500" dirty="0">
              <a:solidFill>
                <a:srgbClr val="09244D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243D41-270E-4513-A39A-6E005AA6209B}"/>
              </a:ext>
            </a:extLst>
          </p:cNvPr>
          <p:cNvSpPr>
            <a:spLocks noGrp="1"/>
          </p:cNvSpPr>
          <p:nvPr/>
        </p:nvSpPr>
        <p:spPr>
          <a:xfrm>
            <a:off x="68770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Nodemailer pour le reset password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6B12508-9E22-401B-BC30-2D554AE4F07C}"/>
              </a:ext>
            </a:extLst>
          </p:cNvPr>
          <p:cNvSpPr>
            <a:spLocks noGrp="1"/>
          </p:cNvSpPr>
          <p:nvPr/>
        </p:nvSpPr>
        <p:spPr>
          <a:xfrm>
            <a:off x="65532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2FB42-50A4-4E74-9ABC-DD87D230F6FE}"/>
              </a:ext>
            </a:extLst>
          </p:cNvPr>
          <p:cNvSpPr>
            <a:spLocks noGrp="1"/>
          </p:cNvSpPr>
          <p:nvPr/>
        </p:nvSpPr>
        <p:spPr>
          <a:xfrm>
            <a:off x="68770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Font Awesome pour les icônes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63D4ED9-E759-4F7D-902D-F4ACFB9E50A3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13DFF0-40AC-4B69-94B7-9465FDB0F001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Codex pour débloquer et structurer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227D322-B9E2-4926-B92E-D7BFC491AF9D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86067F-2410-4038-A5B2-BBA7B3BAD07B}"/>
              </a:ext>
            </a:extLst>
          </p:cNvPr>
          <p:cNvSpPr>
            <a:spLocks noGrp="1"/>
          </p:cNvSpPr>
          <p:nvPr/>
        </p:nvSpPr>
        <p:spPr>
          <a:xfrm>
            <a:off x="68770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Tests réguliers dans le navigateur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872EDF-68F0-48A6-BE04-14B5146014BC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DE78DA9-7564-B943-5AC9-F8FD8B017979}"/>
              </a:ext>
            </a:extLst>
          </p:cNvPr>
          <p:cNvSpPr>
            <a:spLocks noGrp="1"/>
          </p:cNvSpPr>
          <p:nvPr/>
        </p:nvSpPr>
        <p:spPr>
          <a:xfrm>
            <a:off x="1066800" y="3088017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F47518C-C970-F49B-A76B-03C2E8137C89}"/>
              </a:ext>
            </a:extLst>
          </p:cNvPr>
          <p:cNvSpPr>
            <a:spLocks noGrp="1"/>
          </p:cNvSpPr>
          <p:nvPr/>
        </p:nvSpPr>
        <p:spPr>
          <a:xfrm>
            <a:off x="6553200" y="312420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98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672CF2E-3833-48CE-AEE1-C197AD895BCD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TECHNIQUE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94DA1B-008C-4068-9C2B-23938BCCF9EA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11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FAF527-3451-45DB-8C2B-11172376A0CE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Structure de la base de données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87330-9D7D-410C-80DB-3DA13397F119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Les données sont séparées selon leur rôle.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3E802E6-2FCF-4440-8A72-6D2E77361027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E90B1-EF16-425A-BC3A-C9DC89782291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58CC02"/>
                </a:solidFill>
              </a:defRPr>
            </a:pPr>
            <a:r>
              <a:rPr sz="1650" b="1">
                <a:solidFill>
                  <a:srgbClr val="58CC02"/>
                </a:solidFill>
              </a:rPr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2FE6D-95C5-42A2-AD86-7A1BE7E2BA66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Comptes : prénom, email, mot de passe hashé, mode actuel, photo.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6210150-5254-4A25-914A-D355F2B6E87B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B84963-FB13-4C02-96EF-46E654660B5B}"/>
              </a:ext>
            </a:extLst>
          </p:cNvPr>
          <p:cNvSpPr>
            <a:spLocks noGrp="1"/>
          </p:cNvSpPr>
          <p:nvPr/>
        </p:nvSpPr>
        <p:spPr>
          <a:xfrm>
            <a:off x="1123950" y="30575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path_progress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DEAE7-F7BF-442E-9C35-CA1FEF8FEE1F}"/>
              </a:ext>
            </a:extLst>
          </p:cNvPr>
          <p:cNvSpPr>
            <a:spLocks noGrp="1"/>
          </p:cNvSpPr>
          <p:nvPr/>
        </p:nvSpPr>
        <p:spPr>
          <a:xfrm>
            <a:off x="3905250" y="30575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Progression : mode, monde, chemin, test réussi, date de validation.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D95AEF5-C8D2-436D-A575-F9E3E417E26E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E3A48B-D1FC-4165-9A9E-4ABA567A8EC7}"/>
              </a:ext>
            </a:extLst>
          </p:cNvPr>
          <p:cNvSpPr>
            <a:spLocks noGrp="1"/>
          </p:cNvSpPr>
          <p:nvPr/>
        </p:nvSpPr>
        <p:spPr>
          <a:xfrm>
            <a:off x="1123950" y="38766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password_reset_tokens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7A802-F183-4B00-BEF3-D5259A47CEB8}"/>
              </a:ext>
            </a:extLst>
          </p:cNvPr>
          <p:cNvSpPr>
            <a:spLocks noGrp="1"/>
          </p:cNvSpPr>
          <p:nvPr/>
        </p:nvSpPr>
        <p:spPr>
          <a:xfrm>
            <a:off x="3905250" y="38766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Mot de passe oublié : token hashé, expiration, utilisation unique.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2D7036F-8279-44B9-AC54-DFF8906DB417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99060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8B7D8-DB83-4068-9027-45E22814286C}"/>
              </a:ext>
            </a:extLst>
          </p:cNvPr>
          <p:cNvSpPr>
            <a:spLocks noGrp="1"/>
          </p:cNvSpPr>
          <p:nvPr/>
        </p:nvSpPr>
        <p:spPr>
          <a:xfrm>
            <a:off x="1123950" y="46958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EA5A8"/>
                </a:solidFill>
              </a:defRPr>
            </a:pPr>
            <a:r>
              <a:rPr sz="1650" b="1">
                <a:solidFill>
                  <a:srgbClr val="0EA5A8"/>
                </a:solidFill>
              </a:rPr>
              <a:t>user_sessions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2311C8-C7D7-457D-991E-9DFEA109837B}"/>
              </a:ext>
            </a:extLst>
          </p:cNvPr>
          <p:cNvSpPr>
            <a:spLocks noGrp="1"/>
          </p:cNvSpPr>
          <p:nvPr/>
        </p:nvSpPr>
        <p:spPr>
          <a:xfrm>
            <a:off x="3905250" y="46958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9244D"/>
                </a:solidFill>
              </a:defRPr>
            </a:pPr>
            <a:r>
              <a:rPr sz="1425">
                <a:solidFill>
                  <a:srgbClr val="09244D"/>
                </a:solidFill>
              </a:rPr>
              <a:t>Connexion : session stockée côté serveur avec expiration.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52D5C8-7EC0-42B3-AC53-941DFEA7ECAA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Les points sont calculés depuis path_progress : chemins validés x 10.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35F1D8-911F-4C0D-B141-EDCA4E12A4AF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78208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8D068F7-6877-4DEC-9FEB-84A6E0EA822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MÉTHODOLOGIE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3E040-F689-46E3-9EAA-4718774BCB2A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12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939C6-0E47-4C2E-A806-D28E9CA0A78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Méthodologie de développement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81130-F016-4DCA-B971-6F62D12979F7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projet a été construit étape par étape.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CD70D6C-D497-490D-AC36-07267B7971DD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521C5-A2EB-47E2-A06F-CDACE41922CA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Définition du besoin, des modes et des pages principales.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7956786-D879-4877-BC17-7DEC392B1F6E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6FEFD-C502-4EF5-A0AF-4182A538C400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Création du frontend mobile-first, puis séparation frontend/backend.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ECC8323-CC7C-48D6-8641-A4787A3EBCB4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20C44-E97E-470C-A7E8-C6B7ECCAC797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 progressif des fonctionnalités : compte, profil, chemins, quiz, points.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20FD957-43CB-4ADD-AB91-CE352AF9CBAC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4AC471-0A77-4769-AADA-42C53E677182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Tests réguliers avec le navigateur, la base MySQL et phpMyAdmin.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68DD2-910A-4C2A-A6B9-329E0DD67922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37056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39C768-022B-42C0-B1AD-B0CBEB9EB2D0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9180C9-106E-4FF5-A81D-F5D78FAD6447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13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D17EE-FE51-45A8-B1A6-9CD2363598C6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Chemins d’apprentissage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2567A-485C-47DC-8137-0355BDB07DD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contenu est organisé en mondes, chemins et leçons.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9C314-394C-4A36-AE75-EBF8A1ED28F7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1E5C0-968E-4214-880A-E4C276F4B3B2}"/>
              </a:ext>
            </a:extLst>
          </p:cNvPr>
          <p:cNvSpPr>
            <a:spLocks noGrp="1"/>
          </p:cNvSpPr>
          <p:nvPr/>
        </p:nvSpPr>
        <p:spPr>
          <a:xfrm>
            <a:off x="10858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Déblocage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20C0D-D704-4AD2-A806-61540150211D}"/>
              </a:ext>
            </a:extLst>
          </p:cNvPr>
          <p:cNvSpPr>
            <a:spLocks noGrp="1"/>
          </p:cNvSpPr>
          <p:nvPr/>
        </p:nvSpPr>
        <p:spPr>
          <a:xfrm>
            <a:off x="10858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Le chemin suivant dépend de la réussite du précédent.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9D376-5984-4BA1-91DD-7CBC392D24F5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C58F9-12F7-4B40-94E8-CB61D8C62E3F}"/>
              </a:ext>
            </a:extLst>
          </p:cNvPr>
          <p:cNvSpPr>
            <a:spLocks noGrp="1"/>
          </p:cNvSpPr>
          <p:nvPr/>
        </p:nvSpPr>
        <p:spPr>
          <a:xfrm>
            <a:off x="46672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Fiches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5350D-61B8-4943-8457-91BF382F0C2E}"/>
              </a:ext>
            </a:extLst>
          </p:cNvPr>
          <p:cNvSpPr>
            <a:spLocks noGrp="1"/>
          </p:cNvSpPr>
          <p:nvPr/>
        </p:nvSpPr>
        <p:spPr>
          <a:xfrm>
            <a:off x="46672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lang="fr-FR" sz="1350" dirty="0">
                <a:solidFill>
                  <a:srgbClr val="607086"/>
                </a:solidFill>
              </a:rPr>
              <a:t>Les fiches résumées</a:t>
            </a:r>
            <a:r>
              <a:rPr sz="1350" dirty="0">
                <a:solidFill>
                  <a:srgbClr val="607086"/>
                </a:solidFill>
              </a:rPr>
              <a:t> </a:t>
            </a:r>
            <a:r>
              <a:rPr sz="1350" dirty="0" err="1">
                <a:solidFill>
                  <a:srgbClr val="607086"/>
                </a:solidFill>
              </a:rPr>
              <a:t>débloquées</a:t>
            </a:r>
            <a:r>
              <a:rPr sz="1350" dirty="0">
                <a:solidFill>
                  <a:srgbClr val="607086"/>
                </a:solidFill>
              </a:rPr>
              <a:t> </a:t>
            </a:r>
            <a:r>
              <a:rPr sz="1350" dirty="0" err="1">
                <a:solidFill>
                  <a:srgbClr val="607086"/>
                </a:solidFill>
              </a:rPr>
              <a:t>apparaissent</a:t>
            </a:r>
            <a:r>
              <a:rPr sz="1350" dirty="0">
                <a:solidFill>
                  <a:srgbClr val="607086"/>
                </a:solidFill>
              </a:rPr>
              <a:t> dans le menu </a:t>
            </a:r>
            <a:r>
              <a:rPr sz="1350" dirty="0" err="1">
                <a:solidFill>
                  <a:srgbClr val="607086"/>
                </a:solidFill>
              </a:rPr>
              <a:t>cours</a:t>
            </a:r>
            <a:r>
              <a:rPr sz="13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C86F3D-6FC8-4DFB-9BD2-A0C8D70F1656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59B3CC-6595-4658-AC04-AE1EAB203482}"/>
              </a:ext>
            </a:extLst>
          </p:cNvPr>
          <p:cNvSpPr>
            <a:spLocks noGrp="1"/>
          </p:cNvSpPr>
          <p:nvPr/>
        </p:nvSpPr>
        <p:spPr>
          <a:xfrm>
            <a:off x="8248650" y="19442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3B7A"/>
                </a:solidFill>
              </a:defRPr>
            </a:pPr>
            <a:r>
              <a:rPr sz="1800" b="1">
                <a:solidFill>
                  <a:srgbClr val="073B7A"/>
                </a:solidFill>
              </a:rPr>
              <a:t>Tests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3C4B38-3E54-409D-81CD-B1944BD2E341}"/>
              </a:ext>
            </a:extLst>
          </p:cNvPr>
          <p:cNvSpPr>
            <a:spLocks noGrp="1"/>
          </p:cNvSpPr>
          <p:nvPr/>
        </p:nvSpPr>
        <p:spPr>
          <a:xfrm>
            <a:off x="8248650" y="24967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6"/>
                </a:solidFill>
              </a:defRPr>
            </a:pPr>
            <a:r>
              <a:rPr sz="1350">
                <a:solidFill>
                  <a:srgbClr val="607086"/>
                </a:solidFill>
              </a:rPr>
              <a:t>Un chemin est validé quand le test final est réussi.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1354C3-1308-4EA0-BDEC-C6BF2098ED41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0904A33-115C-AD6D-45A2-CFDD7D603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470" y="3043293"/>
            <a:ext cx="1692006" cy="324791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382D884-89AB-864E-1325-56352802F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545" y="3043292"/>
            <a:ext cx="1704131" cy="324791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2B221C0-BE56-69D6-7ED2-2950C0971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3043293"/>
            <a:ext cx="1695040" cy="324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42B1D2-A3C2-4407-83A2-05115369E605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RÉSULTATS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64C35B-1C2D-4E36-80BA-3472C92D4374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15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4E4845-34D8-4D54-A74D-4B8132C5067F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Résultats obtenus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1D7B9-0CC4-4656-B1F7-1EA21741B5C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 dirty="0">
                <a:solidFill>
                  <a:srgbClr val="607086"/>
                </a:solidFill>
              </a:rPr>
              <a:t>Le </a:t>
            </a:r>
            <a:r>
              <a:rPr sz="1650" dirty="0" err="1">
                <a:solidFill>
                  <a:srgbClr val="607086"/>
                </a:solidFill>
              </a:rPr>
              <a:t>produit</a:t>
            </a:r>
            <a:r>
              <a:rPr sz="1650" dirty="0">
                <a:solidFill>
                  <a:srgbClr val="607086"/>
                </a:solidFill>
              </a:rPr>
              <a:t> final </a:t>
            </a:r>
            <a:r>
              <a:rPr sz="1650" dirty="0" err="1">
                <a:solidFill>
                  <a:srgbClr val="607086"/>
                </a:solidFill>
              </a:rPr>
              <a:t>répond</a:t>
            </a:r>
            <a:r>
              <a:rPr sz="1650" dirty="0">
                <a:solidFill>
                  <a:srgbClr val="607086"/>
                </a:solidFill>
              </a:rPr>
              <a:t> aux </a:t>
            </a:r>
            <a:r>
              <a:rPr sz="1650" dirty="0" err="1">
                <a:solidFill>
                  <a:srgbClr val="607086"/>
                </a:solidFill>
              </a:rPr>
              <a:t>objectifs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initiaux</a:t>
            </a:r>
            <a:r>
              <a:rPr sz="16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D5FE809-DC61-4C5D-B646-E8BCA9FB9A3F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8F88C-0FEE-4319-A68A-114FB12B2E8B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Application mobile fonctionnelle avec plusieurs pages reliées.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D2265B4-6DCB-4DF9-A5AC-42A72684537F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D80B0-CD88-4F62-9EF2-08452757B353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Création de compte, connexion, invité, profil et déconnexion.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25125B5-91B4-4EF0-B75D-3F03F51C84D5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D64BFF-7A80-44B6-B011-DC44F87B8F01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Progression sauvegardée en base avec points et classement.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0F12465-9555-40DD-818E-31B90A58BA77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5722A-3FEF-4565-B21B-60D0E0AA72F4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Quiz, tests, fiches pratiques, changement de mode et menu footer.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C5977-2ACB-42C6-BFAA-BC51C517910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146267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A93C9A-68A9-4C9E-B5A9-848D8C1F56B3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DIFFICULTÉS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E6093-9715-4A15-ABC7-C6EE4FFAEF95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16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A701-A787-494C-9475-57E3D026F2E1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Difficultés et solutions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5A37B-AE20-4ED2-A822-4BA58423AEB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 dirty="0">
                <a:solidFill>
                  <a:srgbClr val="607086"/>
                </a:solidFill>
              </a:rPr>
              <a:t>Les </a:t>
            </a:r>
            <a:r>
              <a:rPr sz="1650" dirty="0" err="1">
                <a:solidFill>
                  <a:srgbClr val="607086"/>
                </a:solidFill>
              </a:rPr>
              <a:t>problèmes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rencontrés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ont</a:t>
            </a:r>
            <a:r>
              <a:rPr sz="1650" dirty="0">
                <a:solidFill>
                  <a:srgbClr val="607086"/>
                </a:solidFill>
              </a:rPr>
              <a:t> </a:t>
            </a:r>
            <a:r>
              <a:rPr sz="1650" dirty="0" err="1">
                <a:solidFill>
                  <a:srgbClr val="607086"/>
                </a:solidFill>
              </a:rPr>
              <a:t>aidé</a:t>
            </a:r>
            <a:r>
              <a:rPr sz="1650" dirty="0">
                <a:solidFill>
                  <a:srgbClr val="607086"/>
                </a:solidFill>
              </a:rPr>
              <a:t> à structurer le </a:t>
            </a:r>
            <a:r>
              <a:rPr sz="1650" dirty="0" err="1">
                <a:solidFill>
                  <a:srgbClr val="607086"/>
                </a:solidFill>
              </a:rPr>
              <a:t>projet</a:t>
            </a:r>
            <a:r>
              <a:rPr sz="1650" dirty="0">
                <a:solidFill>
                  <a:srgbClr val="607086"/>
                </a:solidFill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0BCE83B-28ED-4A92-A9DF-149055C05BAD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DF1A5E5-2E4D-4B95-812C-FF12CC072920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DEA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3D781-2885-4B1E-97FC-72DC0ABD56C7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8CC02"/>
                </a:solidFill>
              </a:defRPr>
            </a:pPr>
            <a:r>
              <a:rPr sz="1950" b="1">
                <a:solidFill>
                  <a:srgbClr val="58CC02"/>
                </a:solidFill>
              </a:rPr>
              <a:t>Difficultés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B9479-0457-4D1F-9226-D28B5831A63B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EA5A8"/>
                </a:solidFill>
              </a:defRPr>
            </a:pPr>
            <a:r>
              <a:rPr sz="1950" b="1">
                <a:solidFill>
                  <a:srgbClr val="0EA5A8"/>
                </a:solidFill>
              </a:rPr>
              <a:t>Solutions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D1DEB2C-01B3-41FB-B4CF-FE263F280884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7A3AC-1FAA-4F98-AC93-D98E9E564419}"/>
              </a:ext>
            </a:extLst>
          </p:cNvPr>
          <p:cNvSpPr>
            <a:spLocks noGrp="1"/>
          </p:cNvSpPr>
          <p:nvPr/>
        </p:nvSpPr>
        <p:spPr>
          <a:xfrm>
            <a:off x="13906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Séparer les deux modes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510E08C-B201-4828-B384-DED8155EA1F3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B3C20-4533-42D7-B289-86B984D25E15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Calculer les points sans doublons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B9E611-0B50-4616-8F7E-3BDDF45B17EB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8E1B8-C7A5-4A26-ACCC-BF3D48268B47}"/>
              </a:ext>
            </a:extLst>
          </p:cNvPr>
          <p:cNvSpPr>
            <a:spLocks noGrp="1"/>
          </p:cNvSpPr>
          <p:nvPr/>
        </p:nvSpPr>
        <p:spPr>
          <a:xfrm>
            <a:off x="13906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Protéger les pages privées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8207E5C-C632-4C57-B918-27C19D683F07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1DEC8E-049F-446B-988A-F8B060A27812}"/>
              </a:ext>
            </a:extLst>
          </p:cNvPr>
          <p:cNvSpPr>
            <a:spLocks noGrp="1"/>
          </p:cNvSpPr>
          <p:nvPr/>
        </p:nvSpPr>
        <p:spPr>
          <a:xfrm>
            <a:off x="13906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Adapter l’app au mobile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E236CA2-7E98-424C-B9C7-BA192EA057B2}"/>
              </a:ext>
            </a:extLst>
          </p:cNvPr>
          <p:cNvSpPr>
            <a:spLocks noGrp="1"/>
          </p:cNvSpPr>
          <p:nvPr/>
        </p:nvSpPr>
        <p:spPr>
          <a:xfrm>
            <a:off x="6553200" y="3067050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E6224A-4E16-4550-B215-741F12E7E1D5}"/>
              </a:ext>
            </a:extLst>
          </p:cNvPr>
          <p:cNvSpPr>
            <a:spLocks noGrp="1"/>
          </p:cNvSpPr>
          <p:nvPr/>
        </p:nvSpPr>
        <p:spPr>
          <a:xfrm>
            <a:off x="6877050" y="30003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Champ current_mode et mode dans path_progress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EB1CDB7-09EF-432C-9F64-3E9253D9C59E}"/>
              </a:ext>
            </a:extLst>
          </p:cNvPr>
          <p:cNvSpPr>
            <a:spLocks noGrp="1"/>
          </p:cNvSpPr>
          <p:nvPr/>
        </p:nvSpPr>
        <p:spPr>
          <a:xfrm>
            <a:off x="6553200" y="35242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BBF22A-3288-4F96-9E9F-18EF1E9ECA54}"/>
              </a:ext>
            </a:extLst>
          </p:cNvPr>
          <p:cNvSpPr>
            <a:spLocks noGrp="1"/>
          </p:cNvSpPr>
          <p:nvPr/>
        </p:nvSpPr>
        <p:spPr>
          <a:xfrm>
            <a:off x="6877050" y="34575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Points calculés depuis la base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7FF1E53-38BF-46ED-ABCF-4CE8E05B12DA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E9D45-D578-4105-8C03-698087C20520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Vérification de session côté serveur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90E22ED-D27E-4EC4-951C-07EF7760621B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0A0328-E8BA-468F-8B9B-7E482B068AF8}"/>
              </a:ext>
            </a:extLst>
          </p:cNvPr>
          <p:cNvSpPr>
            <a:spLocks noGrp="1"/>
          </p:cNvSpPr>
          <p:nvPr/>
        </p:nvSpPr>
        <p:spPr>
          <a:xfrm>
            <a:off x="6877050" y="4371975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9244D"/>
                </a:solidFill>
              </a:defRPr>
            </a:pPr>
            <a:r>
              <a:rPr sz="1500">
                <a:solidFill>
                  <a:srgbClr val="09244D"/>
                </a:solidFill>
              </a:rPr>
              <a:t>Transitions et format mobile-first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561E9-F32F-48C4-938D-C371B683472E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025409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55A669-3F99-4960-A605-F935731056B6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408F97-86FC-4127-9115-F14BDB64F1D6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17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E323F-3F1D-465F-A5A8-1F07723C0B11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Démonstration du projet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D28C1E-26FC-40BA-8B5A-FBAEE3DBB4F4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3246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DCAF2A-3994-448A-BDD5-E3EEBB72B051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EA5A8"/>
                </a:solidFill>
              </a:defRPr>
            </a:pPr>
            <a:r>
              <a:rPr sz="1050" b="1">
                <a:solidFill>
                  <a:srgbClr val="0EA5A8"/>
                </a:solidFill>
              </a:rPr>
              <a:t>FUTUR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38156-7C47-42D7-AF44-D696EFD0720D}"/>
              </a:ext>
            </a:extLst>
          </p:cNvPr>
          <p:cNvSpPr>
            <a:spLocks noGrp="1"/>
          </p:cNvSpPr>
          <p:nvPr/>
        </p:nvSpPr>
        <p:spPr>
          <a:xfrm>
            <a:off x="11001375" y="285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07086"/>
                </a:solidFill>
              </a:defRPr>
            </a:pPr>
            <a:r>
              <a:rPr lang="fr-FR" sz="1050" b="1">
                <a:solidFill>
                  <a:srgbClr val="607086"/>
                </a:solidFill>
              </a:rPr>
              <a:t>18</a:t>
            </a:r>
            <a:endParaRPr sz="1050" b="1">
              <a:solidFill>
                <a:srgbClr val="60708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BB7E8-6998-4B2C-B7C3-755FC92E5C27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73B7A"/>
                </a:solidFill>
              </a:defRPr>
            </a:pPr>
            <a:r>
              <a:rPr sz="3450" b="1">
                <a:solidFill>
                  <a:srgbClr val="073B7A"/>
                </a:solidFill>
              </a:rPr>
              <a:t>Améliorations possibles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3C60E-4EB2-46DA-A7FF-DA9A4C7D9D05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6"/>
                </a:solidFill>
              </a:defRPr>
            </a:pPr>
            <a:r>
              <a:rPr sz="1650">
                <a:solidFill>
                  <a:srgbClr val="607086"/>
                </a:solidFill>
              </a:rPr>
              <a:t>Le prototype peut encore évoluer.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4AA36C4-047E-41AE-9249-8529D8A0CB7E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33350" cy="133350"/>
          </a:xfrm>
          <a:prstGeom prst="ellipse">
            <a:avLst/>
          </a:prstGeom>
          <a:solidFill>
            <a:srgbClr val="58CC02"/>
          </a:solidFill>
          <a:ln w="9525">
            <a:solidFill>
              <a:srgbClr val="58CC0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4C4ED-80BF-4064-B4A5-9ADE11F08C55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Ajouter plus de mondes, chemins, images cliniques et radios.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A823500-00AB-46BC-809D-D3BC62058F0D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F83CF3-7114-4101-B63A-2F5DC3FFDE36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Ajouter des badges, plus de statistiques et une traduction complète.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6C7310C-829D-4E41-9DD9-44811F39804E}"/>
              </a:ext>
            </a:extLst>
          </p:cNvPr>
          <p:cNvSpPr>
            <a:spLocks noGrp="1"/>
          </p:cNvSpPr>
          <p:nvPr/>
        </p:nvSpPr>
        <p:spPr>
          <a:xfrm>
            <a:off x="838200" y="336232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208B6-A4AF-4D8A-A31E-51952E45B0F3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Renforcer la sécurité pour une vraie mise en production.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C56763A-2247-4AF2-8BD2-34650FAC3BF9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133350" cy="133350"/>
          </a:xfrm>
          <a:prstGeom prst="ellipse">
            <a:avLst/>
          </a:prstGeom>
          <a:solidFill>
            <a:srgbClr val="0EA5A8"/>
          </a:solidFill>
          <a:ln w="9525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9117D-DBE8-40D9-B429-BF9CE5C13A81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09244D"/>
                </a:solidFill>
              </a:defRPr>
            </a:pPr>
            <a:r>
              <a:rPr sz="1950">
                <a:solidFill>
                  <a:srgbClr val="09244D"/>
                </a:solidFill>
              </a:rPr>
              <a:t>Étudier une future version React Native ou application mobile native.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304AC-1DD7-46F8-B256-45EC4D2D3625}"/>
              </a:ext>
            </a:extLst>
          </p:cNvPr>
          <p:cNvSpPr>
            <a:spLocks noGrp="1"/>
          </p:cNvSpPr>
          <p:nvPr/>
        </p:nvSpPr>
        <p:spPr>
          <a:xfrm>
            <a:off x="704850" y="6381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6"/>
                </a:solidFill>
              </a:defRPr>
            </a:pPr>
            <a:r>
              <a:rPr sz="975">
                <a:solidFill>
                  <a:srgbClr val="607086"/>
                </a:solidFill>
              </a:rPr>
              <a:t>Studiodontho - Projet final B1</a:t>
            </a:r>
          </a:p>
        </p:txBody>
      </p:sp>
    </p:spTree>
    <p:extLst>
      <p:ext uri="{BB962C8B-B14F-4D97-AF65-F5344CB8AC3E}">
        <p14:creationId xmlns:p14="http://schemas.microsoft.com/office/powerpoint/2010/main" val="206182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4B1BD3-698E-4B52-B43B-81F0F6FEF950}"/>
              </a:ext>
            </a:extLst>
          </p:cNvPr>
          <p:cNvSpPr>
            <a:spLocks noGrp="1"/>
          </p:cNvSpPr>
          <p:nvPr/>
        </p:nvSpPr>
        <p:spPr>
          <a:xfrm>
            <a:off x="0" y="2000250"/>
            <a:ext cx="1219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57C34-99F1-49AD-908B-AF4917549CC2}"/>
              </a:ext>
            </a:extLst>
          </p:cNvPr>
          <p:cNvSpPr>
            <a:spLocks noGrp="1"/>
          </p:cNvSpPr>
          <p:nvPr/>
        </p:nvSpPr>
        <p:spPr>
          <a:xfrm>
            <a:off x="0" y="3143250"/>
            <a:ext cx="1219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>
                <a:solidFill>
                  <a:srgbClr val="DFF7FC"/>
                </a:solidFill>
              </a:defRPr>
            </a:pPr>
            <a:r>
              <a:rPr sz="2250">
                <a:solidFill>
                  <a:srgbClr val="DFF7FC"/>
                </a:solidFill>
              </a:rPr>
              <a:t>Merci pour votre attention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AC3F92-6CEA-4D2F-9474-3662783E0EEE}"/>
              </a:ext>
            </a:extLst>
          </p:cNvPr>
          <p:cNvSpPr>
            <a:spLocks noGrp="1"/>
          </p:cNvSpPr>
          <p:nvPr/>
        </p:nvSpPr>
        <p:spPr>
          <a:xfrm>
            <a:off x="0" y="4095750"/>
            <a:ext cx="1219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58CC02"/>
                </a:solidFill>
              </a:defRPr>
            </a:pPr>
            <a:r>
              <a:rPr sz="1800" b="1">
                <a:solidFill>
                  <a:srgbClr val="58CC02"/>
                </a:solidFill>
              </a:rPr>
              <a:t>Démonstration visuelle de Studiodontho</a:t>
            </a:r>
          </a:p>
        </p:txBody>
      </p:sp>
    </p:spTree>
    <p:extLst>
      <p:ext uri="{BB962C8B-B14F-4D97-AF65-F5344CB8AC3E}">
        <p14:creationId xmlns:p14="http://schemas.microsoft.com/office/powerpoint/2010/main" val="8064232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DocSecurity>0</DocSecurity>
  <PresentationFormat>Grand écran</PresentationFormat>
  <Paragraphs>177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Tevaitea Doom</cp:lastModifiedBy>
  <cp:revision>8</cp:revision>
  <dcterms:created xsi:type="dcterms:W3CDTF">2026-06-29T20:06:16Z</dcterms:created>
  <dcterms:modified xsi:type="dcterms:W3CDTF">2026-06-29T21:50:15Z</dcterms:modified>
</cp:coreProperties>
</file>